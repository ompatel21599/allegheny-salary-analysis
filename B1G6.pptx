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D1E1A-EE00-B9D1-28BE-4D27410BC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B192B-436C-0A65-522B-9F4E0F89D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6D257-C434-09FD-3A93-3B3EE6DF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B3F1-E406-140D-00D4-AE479EEC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52725-545A-E443-C208-FDBC5D66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22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A7187-531D-278F-C95F-2FC3FFCD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6AB1B-1846-4B21-1645-6495D27E3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C21BD-CC33-5883-AD2B-9F555274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607A6-C8E5-6EE5-EE18-3CA40E34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E5B4D-6E9A-FFCF-E85F-EC197439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2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2EAA-FB13-F358-0A66-1EBC9D61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9335F-FEE2-E76B-7B4C-28151CF35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84BEA-96BA-9DA7-B25D-D0809B5B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782CC-BC88-14D5-5BE7-59FD5E59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67157-055D-3E8B-C64B-D012EE1E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5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854E-A2C5-D549-F593-CCC3E584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1FED-F20E-6E05-531F-27B0FDC88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BDA27-CFEA-6EAB-C188-C656AD8F9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11332-AC7E-8B8A-0C73-DB301DCA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23D0F-A70B-3761-8B6D-A0648861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FBFE4-B6DB-740B-8DE7-F58A2C14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87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E651-0492-7E91-FFB4-14850A38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7657-682E-8264-FF7E-03B8BE1F1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611EB-BCE8-9FD1-0960-F0EE777B5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6ABF1-82A7-A71A-FEDC-A34D279D7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F3E1E-DE32-68A4-0C4F-F3EBA7314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5B120-638F-8033-4E4F-502E2574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52DDF-F2D0-968A-0186-88EAF142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28FD0-58E1-557C-85B4-724F9887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43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5D22-B84B-83D7-26BE-A76721C8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DD2A0-E11E-BFED-9C6D-40333F74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A40FC-18AF-CC18-C4B0-586D587F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9CB8D-EA5F-AAFC-487A-52BD2539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001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B4EE8-064E-0225-9C9F-E4972AB3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9575A-C8ED-C5D4-CEE9-DA262548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6407-9671-7CEC-79C2-E3A25166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36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5721E-66FE-E73F-FD9C-FC6C1C99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617C2-B1FB-11C8-937C-12A7D8595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2377-DEC9-7942-CBE9-31342B487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E95C7-8CA8-5A90-80E0-D18556C8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64EDE-AB59-9592-307E-D827004A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6A10B-A9E3-280C-7F55-0C17F849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46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ED1DC-4CE5-4255-46E4-F1177F4A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9D1BB-BDE0-F41B-5D9A-DDC6295E0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2A180-226F-3D5F-ADD5-8D8048367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BBB25-33AB-53D2-E101-0524BABBE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13B4D-4F4C-2B1E-21F8-B5E494D2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1A2DE-2C3C-7508-B8C0-D8807212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86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4123-2F51-840F-B3A8-991FED04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B9E0D-FE21-8908-38BC-9E4270631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F70D5-F9B1-B056-F87A-4518759F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1AC93-8784-CE14-5479-C52C63BA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991FE-4E6C-05A2-8804-EAD3669F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26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9093B-65D1-816B-92D5-6C570FD5D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FB3AC-0986-67C0-D7D1-74F8837CA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7FFBC-0BDF-F171-B523-7F7AE7FED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655AB-616B-D8D9-CC5A-9C0BC930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6620-F6EF-FD83-C8AD-5399E851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74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75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38221-3F53-7437-8F3F-C207B213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916A0-5C31-F8DC-B4ED-F34888009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12C0C-871E-F73D-82DE-96F18BDEC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EB668-46CC-498F-8B76-4DF45E480EC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1841B-4DE7-3E27-C50A-33FB28056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9144D-5A20-BE43-45A9-F9E39AAEB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D97B4-5251-4111-A3A3-C39D791F0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09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talog.data.gov/dataset/allegheny-county-employee-salaries/resource/8fc00877-324e-49d1-9bfc-ab39250d8a5f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B33C3-A939-7FE2-CC50-C49D3EC0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4264" y="932688"/>
            <a:ext cx="4892040" cy="17739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Intelligence</a:t>
            </a:r>
            <a:r>
              <a:rPr lang="en-US" sz="4000" dirty="0"/>
              <a:t>-Machine Learning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5" name="Graphic 34" descr="Robot">
            <a:extLst>
              <a:ext uri="{FF2B5EF4-FFF2-40B4-BE49-F238E27FC236}">
                <a16:creationId xmlns:a16="http://schemas.microsoft.com/office/drawing/2014/main" id="{7AB6CB32-47D0-BA66-9E1B-928BC9732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018" y="920809"/>
            <a:ext cx="5025525" cy="5025525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AD0F4D2-80E7-4A78-82EE-BEAEE4945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3558AE6-573F-23B8-20A0-1488DC2DB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4264" y="2898648"/>
            <a:ext cx="4892040" cy="6155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/>
              <a:t>By-OM BharatKumar Patel		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8430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5E1D-D401-CE8A-7D38-0122179A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707"/>
            <a:ext cx="10515600" cy="1325563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51BD-8268-BFC2-2945-60C1752D47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524000"/>
            <a:ext cx="10363826" cy="5209309"/>
          </a:xfrm>
        </p:spPr>
        <p:txBody>
          <a:bodyPr>
            <a:normAutofit/>
          </a:bodyPr>
          <a:lstStyle/>
          <a:p>
            <a:r>
              <a:rPr lang="en-IN" sz="2000" dirty="0"/>
              <a:t>The dataset is </a:t>
            </a:r>
            <a:r>
              <a:rPr lang="en-IN" sz="2000" i="0" dirty="0">
                <a:solidFill>
                  <a:srgbClr val="333333"/>
                </a:solidFill>
                <a:effectLst/>
              </a:rPr>
              <a:t>Allegheny County Employee Salaries dataset of December 2019.</a:t>
            </a:r>
          </a:p>
          <a:p>
            <a:r>
              <a:rPr lang="en-IN" sz="2000" dirty="0">
                <a:solidFill>
                  <a:srgbClr val="333333"/>
                </a:solidFill>
              </a:rPr>
              <a:t>Data dictionary</a:t>
            </a:r>
          </a:p>
          <a:p>
            <a:endParaRPr lang="en-IN" sz="2000" dirty="0">
              <a:solidFill>
                <a:srgbClr val="333333"/>
              </a:solidFill>
            </a:endParaRPr>
          </a:p>
          <a:p>
            <a:endParaRPr lang="en-IN" sz="2000" i="0" dirty="0">
              <a:solidFill>
                <a:srgbClr val="333333"/>
              </a:solidFill>
              <a:effectLst/>
            </a:endParaRPr>
          </a:p>
          <a:p>
            <a:endParaRPr lang="en-IN" sz="2000" dirty="0">
              <a:solidFill>
                <a:srgbClr val="333333"/>
              </a:solidFill>
            </a:endParaRPr>
          </a:p>
          <a:p>
            <a:endParaRPr lang="en-IN" sz="2000" i="0" dirty="0">
              <a:solidFill>
                <a:srgbClr val="333333"/>
              </a:solidFill>
              <a:effectLst/>
            </a:endParaRPr>
          </a:p>
          <a:p>
            <a:endParaRPr lang="en-IN" sz="2000" dirty="0">
              <a:solidFill>
                <a:srgbClr val="333333"/>
              </a:solidFill>
            </a:endParaRPr>
          </a:p>
          <a:p>
            <a:endParaRPr lang="en-IN" sz="2000" dirty="0">
              <a:solidFill>
                <a:srgbClr val="333333"/>
              </a:solidFill>
            </a:endParaRPr>
          </a:p>
          <a:p>
            <a:endParaRPr lang="en-IN" sz="2000" dirty="0">
              <a:solidFill>
                <a:srgbClr val="333333"/>
              </a:solidFill>
            </a:endParaRPr>
          </a:p>
          <a:p>
            <a:r>
              <a:rPr lang="en-IN" sz="2000" i="0" dirty="0">
                <a:solidFill>
                  <a:srgbClr val="333333"/>
                </a:solidFill>
                <a:effectLst/>
              </a:rPr>
              <a:t>Data source</a:t>
            </a:r>
          </a:p>
          <a:p>
            <a:pPr marL="0" indent="0">
              <a:buNone/>
            </a:pPr>
            <a:r>
              <a:rPr lang="en-IN" sz="2000" i="0" dirty="0">
                <a:solidFill>
                  <a:srgbClr val="333333"/>
                </a:solidFill>
                <a:effectLst/>
                <a:hlinkClick r:id="rId2"/>
              </a:rPr>
              <a:t>https://catalog.data.gov/dataset/allegheny-county-employee-salaries/resource/8fc00877-324e-49d1-9bfc-ab39250d8a5f</a:t>
            </a:r>
            <a:endParaRPr lang="en-IN" sz="2000" i="0" dirty="0">
              <a:solidFill>
                <a:srgbClr val="333333"/>
              </a:solidFill>
              <a:effectLst/>
            </a:endParaRP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3967BD-0D8D-7070-F6ED-0AB4BE470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127311"/>
              </p:ext>
            </p:extLst>
          </p:nvPr>
        </p:nvGraphicFramePr>
        <p:xfrm>
          <a:off x="2927927" y="2154655"/>
          <a:ext cx="30861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039365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16525829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FIRST_NAME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670310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LAST_NAME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051902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DEPARTMENT           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25678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JOB_TITLE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422676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ELECTED_OFFICIAL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int64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442794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DATE_STARTED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datetime64[ns]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1347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SEX       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23537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ETHNICITY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2739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ORIG_START     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datetime64[ns]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14803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DATE_TERM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datetime64[ns]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006004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PAY_STATUS    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26325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ANNUAL_SALARY   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float64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45267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REGULAR_PAY     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float64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74940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OVERTIME_PAY   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float64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26207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INCENTIVE_PAY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float64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87398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GROSS_PAY            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float64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3920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37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8972-0E54-7348-0155-DB7B6DA1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Data processing</a:t>
            </a:r>
            <a:br>
              <a:rPr lang="en-IN" sz="3600" dirty="0">
                <a:latin typeface="Arial Rounded MT Bold" panose="020F0704030504030204" pitchFamily="34" charset="0"/>
              </a:rPr>
            </a:br>
            <a:r>
              <a:rPr lang="en-IN" sz="3600" dirty="0">
                <a:latin typeface="Arial Rounded MT Bold" panose="020F0704030504030204" pitchFamily="34" charset="0"/>
              </a:rPr>
              <a:t>(cleaning)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8A38B-6E4F-AA60-EE91-2597C316912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Using Pandas with python:</a:t>
            </a:r>
          </a:p>
          <a:p>
            <a:pPr lvl="1"/>
            <a:r>
              <a:rPr lang="en-IN" dirty="0"/>
              <a:t>Searched for null values</a:t>
            </a:r>
          </a:p>
          <a:p>
            <a:pPr lvl="1"/>
            <a:r>
              <a:rPr lang="en-IN" dirty="0"/>
              <a:t>Replacing null with NAN</a:t>
            </a:r>
          </a:p>
          <a:p>
            <a:pPr lvl="1"/>
            <a:r>
              <a:rPr lang="en-IN" dirty="0"/>
              <a:t>Removed any existing null values</a:t>
            </a:r>
          </a:p>
          <a:p>
            <a:pPr lvl="1"/>
            <a:r>
              <a:rPr lang="en-IN" dirty="0"/>
              <a:t>Data formatting </a:t>
            </a:r>
          </a:p>
          <a:p>
            <a:pPr lvl="1"/>
            <a:r>
              <a:rPr lang="en-IN" dirty="0"/>
              <a:t>Configuring data types </a:t>
            </a:r>
          </a:p>
          <a:p>
            <a:pPr lvl="1"/>
            <a:r>
              <a:rPr lang="en-US" dirty="0"/>
              <a:t>formatted target variable to use in regression techniques</a:t>
            </a:r>
          </a:p>
          <a:p>
            <a:pPr lvl="1"/>
            <a:r>
              <a:rPr lang="en-US" dirty="0"/>
              <a:t> Added columns : department code, sex code and year experience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16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DAA9D101-9817-4D16-A481-1E00352EC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19FC3-1A7D-5F5C-3750-C2CBA108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49" y="433924"/>
            <a:ext cx="4945715" cy="967883"/>
          </a:xfrm>
        </p:spPr>
        <p:txBody>
          <a:bodyPr anchor="b">
            <a:normAutofit fontScale="90000"/>
          </a:bodyPr>
          <a:lstStyle/>
          <a:p>
            <a:r>
              <a:rPr lang="en-IN" sz="4000" dirty="0">
                <a:latin typeface="Arial Rounded MT Bold" panose="020F0704030504030204" pitchFamily="34" charset="0"/>
              </a:rPr>
              <a:t>Dimension Reduction Technique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0C721-4EC5-CD55-F1C4-0EDF0A870C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0286" y="2399857"/>
            <a:ext cx="4945715" cy="3455033"/>
          </a:xfrm>
        </p:spPr>
        <p:txBody>
          <a:bodyPr anchor="t">
            <a:normAutofit/>
          </a:bodyPr>
          <a:lstStyle/>
          <a:p>
            <a:r>
              <a:rPr lang="en-IN" sz="2000"/>
              <a:t>Missing value</a:t>
            </a:r>
          </a:p>
          <a:p>
            <a:endParaRPr lang="en-IN" sz="2000"/>
          </a:p>
          <a:p>
            <a:r>
              <a:rPr lang="en-IN" sz="2000"/>
              <a:t>High correlation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B67170E8-F127-DEF1-2BD7-A4937A3FB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013" y="1371639"/>
            <a:ext cx="2107634" cy="1462052"/>
          </a:xfrm>
          <a:prstGeom prst="rect">
            <a:avLst/>
          </a:prstGeom>
        </p:spPr>
      </p:pic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8D1B1A3-E226-0F3E-B780-4C2857781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181" y="1371639"/>
            <a:ext cx="3943534" cy="1330942"/>
          </a:xfrm>
          <a:prstGeom prst="rect">
            <a:avLst/>
          </a:prstGeom>
        </p:spPr>
      </p:pic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84A3F912-3F40-5836-FCB4-ECD2CDD31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670" y="4425273"/>
            <a:ext cx="6225602" cy="1743167"/>
          </a:xfrm>
          <a:prstGeom prst="rect">
            <a:avLst/>
          </a:prstGeom>
        </p:spPr>
      </p:pic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AD7F6C6-BC6F-B16E-7259-B65701D4C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511" y="2942891"/>
            <a:ext cx="6335665" cy="1362167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370CCB5-705B-4E99-8F73-B5403ED84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8323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4B7BD9-7F70-40CA-A74D-E1E6DA334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8750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5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1">
            <a:extLst>
              <a:ext uri="{FF2B5EF4-FFF2-40B4-BE49-F238E27FC236}">
                <a16:creationId xmlns:a16="http://schemas.microsoft.com/office/drawing/2014/main" id="{2A299ADF-C96B-4580-9DF4-9D9269C56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81459-59DC-8DF2-EC7B-7D98F86C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372" y="2215797"/>
            <a:ext cx="6272784" cy="707792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Algorithms</a:t>
            </a:r>
          </a:p>
        </p:txBody>
      </p:sp>
      <p:pic>
        <p:nvPicPr>
          <p:cNvPr id="25" name="Picture 2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A390A2E8-FEF3-2C7A-583B-79C1018B8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06" y="796107"/>
            <a:ext cx="4898227" cy="1261293"/>
          </a:xfrm>
          <a:prstGeom prst="rect">
            <a:avLst/>
          </a:prstGeom>
        </p:spPr>
      </p:pic>
      <p:sp>
        <p:nvSpPr>
          <p:cNvPr id="40" name="Rectangle 33">
            <a:extLst>
              <a:ext uri="{FF2B5EF4-FFF2-40B4-BE49-F238E27FC236}">
                <a16:creationId xmlns:a16="http://schemas.microsoft.com/office/drawing/2014/main" id="{77B9ED5D-FBCA-4F0D-A30B-F8DB7B425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Graphical user interface, text, application, email, Teams&#10;&#10;Description automatically generated">
            <a:extLst>
              <a:ext uri="{FF2B5EF4-FFF2-40B4-BE49-F238E27FC236}">
                <a16:creationId xmlns:a16="http://schemas.microsoft.com/office/drawing/2014/main" id="{7F2856AC-27A0-67EB-62BD-EA4C029FA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87" y="2685263"/>
            <a:ext cx="4894825" cy="2031352"/>
          </a:xfrm>
          <a:prstGeom prst="rect">
            <a:avLst/>
          </a:prstGeom>
        </p:spPr>
      </p:pic>
      <p:sp>
        <p:nvSpPr>
          <p:cNvPr id="41" name="Rectangle 35">
            <a:extLst>
              <a:ext uri="{FF2B5EF4-FFF2-40B4-BE49-F238E27FC236}">
                <a16:creationId xmlns:a16="http://schemas.microsoft.com/office/drawing/2014/main" id="{406034C9-73F6-444C-8AF7-50F884786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0DBC76EC-D636-9A30-66FE-239A6F03F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12" y="5111874"/>
            <a:ext cx="4894826" cy="13093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6E91-D361-971E-5C79-232949ED90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41372" y="3497367"/>
            <a:ext cx="6272784" cy="2825496"/>
          </a:xfrm>
        </p:spPr>
        <p:txBody>
          <a:bodyPr>
            <a:normAutofit/>
          </a:bodyPr>
          <a:lstStyle/>
          <a:p>
            <a:r>
              <a:rPr lang="en-IN" sz="2200" dirty="0"/>
              <a:t>Linear</a:t>
            </a:r>
          </a:p>
          <a:p>
            <a:r>
              <a:rPr lang="en-IN" sz="2200" dirty="0"/>
              <a:t>Multi linear</a:t>
            </a:r>
          </a:p>
          <a:p>
            <a:r>
              <a:rPr lang="en-IN" sz="2200" dirty="0"/>
              <a:t>Random forest</a:t>
            </a:r>
          </a:p>
          <a:p>
            <a:r>
              <a:rPr lang="en-IN" sz="2200" dirty="0"/>
              <a:t>Logistic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8241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7C580-5393-4841-35F8-A2B61B42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345064"/>
            <a:ext cx="10506456" cy="1000797"/>
          </a:xfrm>
        </p:spPr>
        <p:txBody>
          <a:bodyPr anchor="b"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Dataset-Framed Questions</a:t>
            </a:r>
            <a:endParaRPr lang="en-IN" sz="6000" dirty="0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3F29E-82F1-13D4-EFBB-3BCC870C55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of the Job titles have most gross pay? (Top 10).</a:t>
            </a:r>
            <a:endParaRPr lang="en-IN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the ethnicity have a direct correlation to overtime?</a:t>
            </a:r>
            <a:endParaRPr lang="en-IN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Male Vs Female equality in the workspace regarding annual pay and Overtime?  </a:t>
            </a:r>
            <a:endParaRPr lang="en-IN" sz="2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>
                <a:latin typeface="Calibri" panose="020F0502020204030204" pitchFamily="34" charset="0"/>
                <a:cs typeface="Calibri" panose="020F0502020204030204" pitchFamily="34" charset="0"/>
              </a:rPr>
              <a:t>Which of the departments pay there employees Most and least?(top 3)</a:t>
            </a:r>
          </a:p>
          <a:p>
            <a:r>
              <a:rPr lang="en-US" sz="2200">
                <a:latin typeface="Calibri" panose="020F0502020204030204" pitchFamily="34" charset="0"/>
                <a:cs typeface="Calibri" panose="020F0502020204030204" pitchFamily="34" charset="0"/>
              </a:rPr>
              <a:t>Ratio of the Departments that have still active and Terminated pay status?</a:t>
            </a:r>
            <a:endParaRPr lang="en-IN" sz="2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92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6B3E80-5588-7D34-BF65-44C0CD30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80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Which of the Job titles have most gross pay? (Top 10).</a:t>
            </a:r>
            <a:endParaRPr lang="en-US" sz="3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art, pie chart&#10;&#10;Description automatically generated">
            <a:extLst>
              <a:ext uri="{FF2B5EF4-FFF2-40B4-BE49-F238E27FC236}">
                <a16:creationId xmlns:a16="http://schemas.microsoft.com/office/drawing/2014/main" id="{A25D4058-7602-1C30-658C-A82AF2F80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317" y="2427541"/>
            <a:ext cx="7800267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91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CFE9EA-50D8-4028-BE42-DC2D813BE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251674"/>
            <a:ext cx="11548872" cy="1645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FE9D1-0626-0A27-C19E-B37007E2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53" y="555213"/>
            <a:ext cx="7296912" cy="126187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80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Does the ethnicity have a direct correlation to overtime?</a:t>
            </a:r>
            <a:br>
              <a:rPr lang="en-US" sz="260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218DD6-0CC7-465B-B80F-747F97B4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059936" y="623740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4034F0D8-F844-F916-6913-2EB7B5AA7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145" y="2150036"/>
            <a:ext cx="7647709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9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8F96A-7DE8-5AC3-569D-D067865C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4" y="1712666"/>
            <a:ext cx="4471967" cy="2887579"/>
          </a:xfrm>
          <a:prstGeom prst="ellipse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8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Male Vs Female equality in the workspace regarding annual pay and Overtime?  </a:t>
            </a:r>
            <a:br>
              <a:rPr lang="en-US" sz="23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4" name="Straight Connector 13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Chart, bar chart&#10;&#10;Description automatically generated">
            <a:extLst>
              <a:ext uri="{FF2B5EF4-FFF2-40B4-BE49-F238E27FC236}">
                <a16:creationId xmlns:a16="http://schemas.microsoft.com/office/drawing/2014/main" id="{EF54D64F-194E-8CCB-C42A-46D2FA5B8DE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822" y="1712665"/>
            <a:ext cx="6553545" cy="344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77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6F525-87F6-91C6-2D73-5C0136174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791456"/>
            <a:ext cx="7178040" cy="150876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r"/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Which of the departments pay there employees Most and least?(top 3)</a:t>
            </a:r>
            <a:br>
              <a:rPr lang="en-US" sz="3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Chart, pie chart&#10;&#10;Description automatically generated">
            <a:extLst>
              <a:ext uri="{FF2B5EF4-FFF2-40B4-BE49-F238E27FC236}">
                <a16:creationId xmlns:a16="http://schemas.microsoft.com/office/drawing/2014/main" id="{497B99CB-83A2-5999-28B9-1F021A4A4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852" y="307731"/>
            <a:ext cx="9351197" cy="399763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8B1B64-31F5-4A02-8CDF-89C2A37BF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2440" y="4801011"/>
            <a:ext cx="0" cy="146304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84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537B233-9CDD-4A90-AABB-A8963DEE4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6140E-8558-6A73-438B-3DF98FAC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18457"/>
            <a:ext cx="3322317" cy="29758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Average year experience of M/F According to Departments?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0575EE-C594-4566-BC00-663004E52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63566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FC375159-1E66-5604-A55F-5BA85D057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678" y="1401487"/>
            <a:ext cx="6436548" cy="405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93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!!BGRectangle">
            <a:extLst>
              <a:ext uri="{FF2B5EF4-FFF2-40B4-BE49-F238E27FC236}">
                <a16:creationId xmlns:a16="http://schemas.microsoft.com/office/drawing/2014/main" id="{F1611BA9-268A-49A6-84F8-FC9153668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6C707-276C-44BD-B931-E9DDA8252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25608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54DC5E-484E-426E-8CBC-F15C35F4AE58}"/>
              </a:ext>
            </a:extLst>
          </p:cNvPr>
          <p:cNvSpPr/>
          <p:nvPr/>
        </p:nvSpPr>
        <p:spPr>
          <a:xfrm>
            <a:off x="0" y="-1"/>
            <a:ext cx="12258675" cy="6857998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46633-31BF-4A50-4D43-9546CD93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349" y="1200152"/>
            <a:ext cx="6897171" cy="44576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24" name="!!Line">
            <a:extLst>
              <a:ext uri="{FF2B5EF4-FFF2-40B4-BE49-F238E27FC236}">
                <a16:creationId xmlns:a16="http://schemas.microsoft.com/office/drawing/2014/main" id="{1825D5AF-D278-4D9A-A4F5-A1A1D3507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6" y="2286000"/>
            <a:ext cx="27432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12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5A28E-048C-D1A0-3733-A9693366C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 sz="3600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F0736-F888-E595-7B13-784EBA1F1D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4401" y="2214282"/>
            <a:ext cx="6629400" cy="3137648"/>
          </a:xfrm>
        </p:spPr>
        <p:txBody>
          <a:bodyPr anchor="ctr">
            <a:normAutofit/>
          </a:bodyPr>
          <a:lstStyle/>
          <a:p>
            <a:r>
              <a:rPr lang="en-US" sz="1800" dirty="0"/>
              <a:t>Random forest is best technique</a:t>
            </a:r>
          </a:p>
          <a:p>
            <a:pPr lvl="1"/>
            <a:r>
              <a:rPr lang="en-US" sz="1800" dirty="0"/>
              <a:t>High Accuracy Rate</a:t>
            </a:r>
          </a:p>
          <a:p>
            <a:pPr lvl="1"/>
            <a:r>
              <a:rPr lang="en-US" sz="1800" dirty="0"/>
              <a:t>Root mean squared error is least</a:t>
            </a:r>
          </a:p>
          <a:p>
            <a:r>
              <a:rPr lang="en-CA" sz="1800" dirty="0"/>
              <a:t>Male employees earn more in terms of salary and overtime compensation than female employees.</a:t>
            </a:r>
          </a:p>
          <a:p>
            <a:r>
              <a:rPr lang="en-CA" sz="1800" dirty="0"/>
              <a:t>We may conclude that the average experience and remuneration in the majority of departments are male rather than female.</a:t>
            </a:r>
          </a:p>
          <a:p>
            <a:r>
              <a:rPr lang="en-CA" sz="1800" dirty="0"/>
              <a:t>The department roles are determined by gender, and some employment positions are assigned based on the results of the logistic regression study as well as the Power BI analysis.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4627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73BAFA-B7D5-43F4-802E-E42394759FFE}"/>
              </a:ext>
            </a:extLst>
          </p:cNvPr>
          <p:cNvSpPr/>
          <p:nvPr/>
        </p:nvSpPr>
        <p:spPr>
          <a:xfrm>
            <a:off x="4561190" y="2967335"/>
            <a:ext cx="3069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8097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385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Rounded MT Bold</vt:lpstr>
      <vt:lpstr>Calibri</vt:lpstr>
      <vt:lpstr>Calibri Light</vt:lpstr>
      <vt:lpstr>Times New Roman</vt:lpstr>
      <vt:lpstr>Tw Cen MT</vt:lpstr>
      <vt:lpstr>Office Theme</vt:lpstr>
      <vt:lpstr>Business Intelligence-Machine Learning</vt:lpstr>
      <vt:lpstr>Introduction</vt:lpstr>
      <vt:lpstr>Data processing (cleaning)</vt:lpstr>
      <vt:lpstr>Dimension Reduction Technique </vt:lpstr>
      <vt:lpstr>Algorithms</vt:lpstr>
      <vt:lpstr>Dataset-Framed Questions</vt:lpstr>
      <vt:lpstr>Which of the Job titles have most gross pay? (Top 10).</vt:lpstr>
      <vt:lpstr>Does the ethnicity have a direct correlation to overtime? </vt:lpstr>
      <vt:lpstr>Male Vs Female equality in the workspace regarding annual pay and Overtime?   </vt:lpstr>
      <vt:lpstr>Which of the departments pay there employees Most and least?(top 3) </vt:lpstr>
      <vt:lpstr>Average year experience of M/F According to Departments?</vt:lpstr>
      <vt:lpstr>DASHBOARD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Intelligence</dc:title>
  <dc:creator>Saurav Sharma</dc:creator>
  <cp:lastModifiedBy>Om Bharatkumar Patel</cp:lastModifiedBy>
  <cp:revision>15</cp:revision>
  <dcterms:created xsi:type="dcterms:W3CDTF">2022-07-10T21:54:06Z</dcterms:created>
  <dcterms:modified xsi:type="dcterms:W3CDTF">2026-03-27T12:13:21Z</dcterms:modified>
</cp:coreProperties>
</file>